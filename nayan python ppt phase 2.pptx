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8" r:id="rId10"/>
    <p:sldId id="269" r:id="rId11"/>
    <p:sldId id="267" r:id="rId12"/>
  </p:sldIdLst>
  <p:sldSz cx="9144000" cy="6858000" type="screen4x3"/>
  <p:notesSz cx="9144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8" roundtripDataSignature="AMtx7mgvx3OWFok/wUG24RwDzVA91p7SW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AD6B557-4FB7-4B8E-A0DB-1A28EC87E999}" v="6" dt="2026-10-09T09:26:57.2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62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13513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" name="Google Shape;48;p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1:notes"/>
          <p:cNvSpPr txBox="1">
            <a:spLocks noGrp="1"/>
          </p:cNvSpPr>
          <p:nvPr>
            <p:ph type="sldNum" idx="12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50" name="Google Shape;50;p1:notes"/>
          <p:cNvSpPr txBox="1">
            <a:spLocks noGrp="1"/>
          </p:cNvSpPr>
          <p:nvPr>
            <p:ph type="ftr" idx="11"/>
          </p:nvPr>
        </p:nvSpPr>
        <p:spPr>
          <a:xfrm>
            <a:off x="0" y="6513513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S. B. Jain Institute of Technology Management and research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f9a5c084c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f9a5c084c8_0_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g3f9a5c084c8_0_0:notes"/>
          <p:cNvSpPr txBox="1">
            <a:spLocks noGrp="1"/>
          </p:cNvSpPr>
          <p:nvPr>
            <p:ph type="sldNum" idx="12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f732d0224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f732d02244_0_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g3f732d02244_0_1:notes"/>
          <p:cNvSpPr txBox="1">
            <a:spLocks noGrp="1"/>
          </p:cNvSpPr>
          <p:nvPr>
            <p:ph type="sldNum" idx="12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732d02244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732d02244_0_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g3f732d02244_0_7:notes"/>
          <p:cNvSpPr txBox="1">
            <a:spLocks noGrp="1"/>
          </p:cNvSpPr>
          <p:nvPr>
            <p:ph type="sldNum" idx="12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f732d02244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f732d02244_0_1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g3f732d02244_0_15:notes"/>
          <p:cNvSpPr txBox="1">
            <a:spLocks noGrp="1"/>
          </p:cNvSpPr>
          <p:nvPr>
            <p:ph type="sldNum" idx="12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732d02244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f732d02244_0_2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g3f732d02244_0_21:notes"/>
          <p:cNvSpPr txBox="1">
            <a:spLocks noGrp="1"/>
          </p:cNvSpPr>
          <p:nvPr>
            <p:ph type="sldNum" idx="12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f732d02244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f732d02244_0_4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g3f732d02244_0_43:notes"/>
          <p:cNvSpPr txBox="1">
            <a:spLocks noGrp="1"/>
          </p:cNvSpPr>
          <p:nvPr>
            <p:ph type="sldNum" idx="12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f732d02244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f732d02244_0_7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g3f732d02244_0_71:notes"/>
          <p:cNvSpPr txBox="1">
            <a:spLocks noGrp="1"/>
          </p:cNvSpPr>
          <p:nvPr>
            <p:ph type="sldNum" idx="12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>
            <a:spLocks noGrp="1"/>
          </p:cNvSpPr>
          <p:nvPr>
            <p:ph type="title"/>
          </p:nvPr>
        </p:nvSpPr>
        <p:spPr>
          <a:xfrm>
            <a:off x="670559" y="346709"/>
            <a:ext cx="7802880" cy="391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body" idx="1"/>
          </p:nvPr>
        </p:nvSpPr>
        <p:spPr>
          <a:xfrm>
            <a:off x="762000" y="1828800"/>
            <a:ext cx="7471409" cy="3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ftr" idx="11"/>
          </p:nvPr>
        </p:nvSpPr>
        <p:spPr>
          <a:xfrm>
            <a:off x="382270" y="6458416"/>
            <a:ext cx="3950970" cy="196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ldNum" idx="12"/>
          </p:nvPr>
        </p:nvSpPr>
        <p:spPr>
          <a:xfrm>
            <a:off x="8459469" y="6430208"/>
            <a:ext cx="302259" cy="252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marR="0" lvl="0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38100" marR="0" lvl="1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38100" marR="0" lvl="2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38100" marR="0" lvl="3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8100" marR="0" lvl="4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8100" marR="0" lvl="5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8100" marR="0" lvl="6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8100" marR="0" lvl="7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100" marR="0" lvl="8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7"/>
          <p:cNvSpPr txBox="1"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7"/>
          <p:cNvSpPr txBox="1">
            <a:spLocks noGrp="1"/>
          </p:cNvSpPr>
          <p:nvPr>
            <p:ph type="subTitle" idx="1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ftr" idx="11"/>
          </p:nvPr>
        </p:nvSpPr>
        <p:spPr>
          <a:xfrm>
            <a:off x="382270" y="6458416"/>
            <a:ext cx="3950970" cy="196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7"/>
          <p:cNvSpPr txBox="1">
            <a:spLocks noGrp="1"/>
          </p:cNvSpPr>
          <p:nvPr>
            <p:ph type="sldNum" idx="12"/>
          </p:nvPr>
        </p:nvSpPr>
        <p:spPr>
          <a:xfrm>
            <a:off x="8459469" y="6430208"/>
            <a:ext cx="302259" cy="252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marR="0" lvl="0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38100" marR="0" lvl="1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38100" marR="0" lvl="2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38100" marR="0" lvl="3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8100" marR="0" lvl="4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8100" marR="0" lvl="5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8100" marR="0" lvl="6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8100" marR="0" lvl="7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100" marR="0" lvl="8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>
            <a:spLocks noGrp="1"/>
          </p:cNvSpPr>
          <p:nvPr>
            <p:ph type="title"/>
          </p:nvPr>
        </p:nvSpPr>
        <p:spPr>
          <a:xfrm>
            <a:off x="670559" y="346709"/>
            <a:ext cx="7802880" cy="391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body" idx="1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body" idx="2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ftr" idx="11"/>
          </p:nvPr>
        </p:nvSpPr>
        <p:spPr>
          <a:xfrm>
            <a:off x="382270" y="6458416"/>
            <a:ext cx="3950970" cy="196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ldNum" idx="12"/>
          </p:nvPr>
        </p:nvSpPr>
        <p:spPr>
          <a:xfrm>
            <a:off x="8459469" y="6430208"/>
            <a:ext cx="302259" cy="252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marR="0" lvl="0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38100" marR="0" lvl="1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38100" marR="0" lvl="2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38100" marR="0" lvl="3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8100" marR="0" lvl="4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8100" marR="0" lvl="5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8100" marR="0" lvl="6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8100" marR="0" lvl="7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100" marR="0" lvl="8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 txBox="1">
            <a:spLocks noGrp="1"/>
          </p:cNvSpPr>
          <p:nvPr>
            <p:ph type="title"/>
          </p:nvPr>
        </p:nvSpPr>
        <p:spPr>
          <a:xfrm>
            <a:off x="670559" y="346709"/>
            <a:ext cx="7802880" cy="391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ftr" idx="11"/>
          </p:nvPr>
        </p:nvSpPr>
        <p:spPr>
          <a:xfrm>
            <a:off x="382270" y="6458416"/>
            <a:ext cx="3950970" cy="196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sldNum" idx="12"/>
          </p:nvPr>
        </p:nvSpPr>
        <p:spPr>
          <a:xfrm>
            <a:off x="8459469" y="6430208"/>
            <a:ext cx="302259" cy="252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marR="0" lvl="0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38100" marR="0" lvl="1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38100" marR="0" lvl="2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38100" marR="0" lvl="3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8100" marR="0" lvl="4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8100" marR="0" lvl="5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8100" marR="0" lvl="6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8100" marR="0" lvl="7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100" marR="0" lvl="8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>
            <a:spLocks noGrp="1"/>
          </p:cNvSpPr>
          <p:nvPr>
            <p:ph type="ftr" idx="11"/>
          </p:nvPr>
        </p:nvSpPr>
        <p:spPr>
          <a:xfrm>
            <a:off x="382270" y="6458416"/>
            <a:ext cx="3950970" cy="196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sldNum" idx="12"/>
          </p:nvPr>
        </p:nvSpPr>
        <p:spPr>
          <a:xfrm>
            <a:off x="8459469" y="6430208"/>
            <a:ext cx="302259" cy="252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marR="0" lvl="0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38100" marR="0" lvl="1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38100" marR="0" lvl="2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38100" marR="0" lvl="3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8100" marR="0" lvl="4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8100" marR="0" lvl="5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8100" marR="0" lvl="6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8100" marR="0" lvl="7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100" marR="0" lvl="8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/>
          <p:nvPr/>
        </p:nvSpPr>
        <p:spPr>
          <a:xfrm>
            <a:off x="146050" y="6390640"/>
            <a:ext cx="8832850" cy="309880"/>
          </a:xfrm>
          <a:custGeom>
            <a:avLst/>
            <a:gdLst/>
            <a:ahLst/>
            <a:cxnLst/>
            <a:rect l="l" t="t" r="r" b="b"/>
            <a:pathLst>
              <a:path w="8832850" h="309879" extrusionOk="0">
                <a:moveTo>
                  <a:pt x="8832850" y="0"/>
                </a:moveTo>
                <a:lnTo>
                  <a:pt x="0" y="0"/>
                </a:lnTo>
                <a:lnTo>
                  <a:pt x="0" y="309880"/>
                </a:lnTo>
                <a:lnTo>
                  <a:pt x="8832850" y="309880"/>
                </a:lnTo>
                <a:close/>
              </a:path>
            </a:pathLst>
          </a:custGeom>
          <a:solidFill>
            <a:srgbClr val="8BACAD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4"/>
          <p:cNvSpPr/>
          <p:nvPr/>
        </p:nvSpPr>
        <p:spPr>
          <a:xfrm>
            <a:off x="152400" y="158750"/>
            <a:ext cx="8832850" cy="6546850"/>
          </a:xfrm>
          <a:custGeom>
            <a:avLst/>
            <a:gdLst/>
            <a:ahLst/>
            <a:cxnLst/>
            <a:rect l="l" t="t" r="r" b="b"/>
            <a:pathLst>
              <a:path w="8832850" h="6546850" extrusionOk="0">
                <a:moveTo>
                  <a:pt x="4415790" y="6546850"/>
                </a:moveTo>
                <a:lnTo>
                  <a:pt x="0" y="6546850"/>
                </a:lnTo>
                <a:lnTo>
                  <a:pt x="0" y="0"/>
                </a:lnTo>
                <a:lnTo>
                  <a:pt x="8832850" y="0"/>
                </a:lnTo>
                <a:lnTo>
                  <a:pt x="8832850" y="6546850"/>
                </a:lnTo>
                <a:lnTo>
                  <a:pt x="4415790" y="6546850"/>
                </a:lnTo>
                <a:close/>
              </a:path>
            </a:pathLst>
          </a:custGeom>
          <a:noFill/>
          <a:ln w="9525" cap="flat" cmpd="sng">
            <a:solidFill>
              <a:srgbClr val="7A979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4"/>
          <p:cNvSpPr txBox="1">
            <a:spLocks noGrp="1"/>
          </p:cNvSpPr>
          <p:nvPr>
            <p:ph type="title"/>
          </p:nvPr>
        </p:nvSpPr>
        <p:spPr>
          <a:xfrm>
            <a:off x="670559" y="346709"/>
            <a:ext cx="7802880" cy="391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4"/>
          <p:cNvSpPr txBox="1">
            <a:spLocks noGrp="1"/>
          </p:cNvSpPr>
          <p:nvPr>
            <p:ph type="body" idx="1"/>
          </p:nvPr>
        </p:nvSpPr>
        <p:spPr>
          <a:xfrm>
            <a:off x="762000" y="1828800"/>
            <a:ext cx="7471409" cy="3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4"/>
          <p:cNvSpPr txBox="1">
            <a:spLocks noGrp="1"/>
          </p:cNvSpPr>
          <p:nvPr>
            <p:ph type="ftr" idx="11"/>
          </p:nvPr>
        </p:nvSpPr>
        <p:spPr>
          <a:xfrm>
            <a:off x="382270" y="6458416"/>
            <a:ext cx="3950970" cy="196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4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sldNum" idx="12"/>
          </p:nvPr>
        </p:nvSpPr>
        <p:spPr>
          <a:xfrm>
            <a:off x="8459469" y="6430208"/>
            <a:ext cx="302259" cy="252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marR="0" lvl="0" indent="0" algn="l" rtl="0">
              <a:lnSpc>
                <a:spcPct val="116875"/>
              </a:lnSpc>
              <a:spcBef>
                <a:spcPts val="0"/>
              </a:spcBef>
              <a:buNone/>
              <a:defRPr sz="16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38100" marR="0" lvl="1" indent="0" algn="l" rtl="0">
              <a:lnSpc>
                <a:spcPct val="116875"/>
              </a:lnSpc>
              <a:spcBef>
                <a:spcPts val="0"/>
              </a:spcBef>
              <a:buNone/>
              <a:defRPr sz="16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38100" marR="0" lvl="2" indent="0" algn="l" rtl="0">
              <a:lnSpc>
                <a:spcPct val="116875"/>
              </a:lnSpc>
              <a:spcBef>
                <a:spcPts val="0"/>
              </a:spcBef>
              <a:buNone/>
              <a:defRPr sz="16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38100" marR="0" lvl="3" indent="0" algn="l" rtl="0">
              <a:lnSpc>
                <a:spcPct val="116875"/>
              </a:lnSpc>
              <a:spcBef>
                <a:spcPts val="0"/>
              </a:spcBef>
              <a:buNone/>
              <a:defRPr sz="16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8100" marR="0" lvl="4" indent="0" algn="l" rtl="0">
              <a:lnSpc>
                <a:spcPct val="116875"/>
              </a:lnSpc>
              <a:spcBef>
                <a:spcPts val="0"/>
              </a:spcBef>
              <a:buNone/>
              <a:defRPr sz="16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8100" marR="0" lvl="5" indent="0" algn="l" rtl="0">
              <a:lnSpc>
                <a:spcPct val="116875"/>
              </a:lnSpc>
              <a:spcBef>
                <a:spcPts val="0"/>
              </a:spcBef>
              <a:buNone/>
              <a:defRPr sz="16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8100" marR="0" lvl="6" indent="0" algn="l" rtl="0">
              <a:lnSpc>
                <a:spcPct val="116875"/>
              </a:lnSpc>
              <a:spcBef>
                <a:spcPts val="0"/>
              </a:spcBef>
              <a:buNone/>
              <a:defRPr sz="16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8100" marR="0" lvl="7" indent="0" algn="l" rtl="0">
              <a:lnSpc>
                <a:spcPct val="116875"/>
              </a:lnSpc>
              <a:spcBef>
                <a:spcPts val="0"/>
              </a:spcBef>
              <a:buNone/>
              <a:defRPr sz="16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100" marR="0" lvl="8" indent="0" algn="l" rtl="0">
              <a:lnSpc>
                <a:spcPct val="116875"/>
              </a:lnSpc>
              <a:spcBef>
                <a:spcPts val="0"/>
              </a:spcBef>
              <a:buNone/>
              <a:defRPr sz="16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"/>
          <p:cNvSpPr txBox="1">
            <a:spLocks noGrp="1"/>
          </p:cNvSpPr>
          <p:nvPr>
            <p:ph type="title"/>
          </p:nvPr>
        </p:nvSpPr>
        <p:spPr>
          <a:xfrm>
            <a:off x="304800" y="304800"/>
            <a:ext cx="8305800" cy="3275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Experiential Learning</a:t>
            </a:r>
            <a:br>
              <a:rPr lang="en-US" sz="32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2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Assessment-I</a:t>
            </a:r>
            <a:br>
              <a:rPr lang="en-US" sz="3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</a:t>
            </a:r>
            <a:br>
              <a:rPr lang="en-US" sz="3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200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”</a:t>
            </a:r>
            <a:br>
              <a:rPr lang="en-US" sz="3200" b="1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800" b="1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 the course</a:t>
            </a:r>
            <a:br>
              <a:rPr lang="en-US" sz="3200" b="1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b="1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Python Programming Language (N-PCCCM304P)</a:t>
            </a:r>
            <a:br>
              <a:rPr lang="en-US" sz="3200" b="1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3200" dirty="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" name="Google Shape;53;p1"/>
          <p:cNvSpPr/>
          <p:nvPr/>
        </p:nvSpPr>
        <p:spPr>
          <a:xfrm>
            <a:off x="685800" y="3295692"/>
            <a:ext cx="2743200" cy="1504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</a:t>
            </a:r>
            <a:r>
              <a:rPr lang="en-US" sz="2000" b="1" dirty="0"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latin typeface="Times New Roman"/>
                <a:ea typeface="Times New Roman"/>
                <a:cs typeface="Times New Roman"/>
                <a:sym typeface="Times New Roman"/>
              </a:rPr>
              <a:t>Nayan </a:t>
            </a:r>
            <a:r>
              <a:rPr lang="en-US" sz="2000" b="1" dirty="0" err="1">
                <a:latin typeface="Times New Roman"/>
                <a:ea typeface="Times New Roman"/>
                <a:cs typeface="Times New Roman"/>
                <a:sym typeface="Times New Roman"/>
              </a:rPr>
              <a:t>Pannase</a:t>
            </a:r>
            <a:endParaRPr sz="20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latin typeface="Times New Roman"/>
                <a:ea typeface="Times New Roman"/>
                <a:cs typeface="Times New Roman"/>
                <a:sym typeface="Times New Roman"/>
              </a:rPr>
              <a:t>[CM25035]</a:t>
            </a:r>
            <a:endParaRPr sz="20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</a:t>
            </a:r>
            <a:endParaRPr sz="1800" dirty="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" name="Google Shape;54;p1"/>
          <p:cNvSpPr/>
          <p:nvPr/>
        </p:nvSpPr>
        <p:spPr>
          <a:xfrm>
            <a:off x="5305425" y="3277000"/>
            <a:ext cx="3409950" cy="122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 the Guidance 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Mrs. Mayuri Getme</a:t>
            </a:r>
            <a:endParaRPr sz="20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"/>
          <p:cNvSpPr/>
          <p:nvPr/>
        </p:nvSpPr>
        <p:spPr>
          <a:xfrm>
            <a:off x="1447800" y="4648200"/>
            <a:ext cx="6629040" cy="3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Session:2026-27 (ODD )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CSE(AI&amp;ML)</a:t>
            </a:r>
            <a:endParaRPr sz="1800"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" name="Google Shape;56;p1"/>
          <p:cNvSpPr/>
          <p:nvPr/>
        </p:nvSpPr>
        <p:spPr>
          <a:xfrm>
            <a:off x="457200" y="53340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lang="en-US"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S. B. JAIN INSTITUTE OF TECHNOLOGY MANAGEMENT AND RESEARCH,NAGPUR</a:t>
            </a:r>
            <a:endParaRPr/>
          </a:p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Autonomous Institute, Affiliated to RTMNU, Nagpur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7" name="Google Shape;57;p1" descr="C:\Users\PROJECT LAB\Desktop\College 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38575" y="3286617"/>
            <a:ext cx="1466850" cy="1066801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"/>
          <p:cNvSpPr txBox="1">
            <a:spLocks noGrp="1"/>
          </p:cNvSpPr>
          <p:nvPr>
            <p:ph type="ftr" idx="11"/>
          </p:nvPr>
        </p:nvSpPr>
        <p:spPr>
          <a:xfrm>
            <a:off x="3352800" y="6477000"/>
            <a:ext cx="563753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/>
              <a:t>)</a:t>
            </a:r>
            <a:endParaRPr sz="14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"/>
          <p:cNvSpPr txBox="1">
            <a:spLocks noGrp="1"/>
          </p:cNvSpPr>
          <p:nvPr>
            <p:ph type="title"/>
          </p:nvPr>
        </p:nvSpPr>
        <p:spPr>
          <a:xfrm>
            <a:off x="670559" y="390209"/>
            <a:ext cx="78030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/>
              <a:t>Contents</a:t>
            </a:r>
            <a:endParaRPr sz="2500" b="1"/>
          </a:p>
        </p:txBody>
      </p:sp>
      <p:sp>
        <p:nvSpPr>
          <p:cNvPr id="64" name="Google Shape;64;p2"/>
          <p:cNvSpPr txBox="1">
            <a:spLocks noGrp="1"/>
          </p:cNvSpPr>
          <p:nvPr>
            <p:ph type="body" idx="1"/>
          </p:nvPr>
        </p:nvSpPr>
        <p:spPr>
          <a:xfrm>
            <a:off x="599768" y="875071"/>
            <a:ext cx="728570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endParaRPr dirty="0"/>
          </a:p>
        </p:txBody>
      </p:sp>
      <p:sp>
        <p:nvSpPr>
          <p:cNvPr id="65" name="Google Shape;65;p2"/>
          <p:cNvSpPr txBox="1">
            <a:spLocks noGrp="1"/>
          </p:cNvSpPr>
          <p:nvPr>
            <p:ph type="ftr" idx="11"/>
          </p:nvPr>
        </p:nvSpPr>
        <p:spPr>
          <a:xfrm>
            <a:off x="382270" y="6458416"/>
            <a:ext cx="3950970" cy="196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S. B. Jain Institute of Technology Management and research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f9a5c084c8_0_0"/>
          <p:cNvSpPr txBox="1">
            <a:spLocks noGrp="1"/>
          </p:cNvSpPr>
          <p:nvPr>
            <p:ph type="title"/>
          </p:nvPr>
        </p:nvSpPr>
        <p:spPr>
          <a:xfrm>
            <a:off x="583584" y="332209"/>
            <a:ext cx="7803000" cy="3849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/>
              <a:t>1. Problem Statement</a:t>
            </a:r>
            <a:endParaRPr sz="2500" b="1"/>
          </a:p>
        </p:txBody>
      </p:sp>
      <p:sp>
        <p:nvSpPr>
          <p:cNvPr id="72" name="Google Shape;72;g3f9a5c084c8_0_0"/>
          <p:cNvSpPr txBox="1">
            <a:spLocks noGrp="1"/>
          </p:cNvSpPr>
          <p:nvPr>
            <p:ph type="body" idx="1"/>
          </p:nvPr>
        </p:nvSpPr>
        <p:spPr>
          <a:xfrm>
            <a:off x="749334" y="524659"/>
            <a:ext cx="7471500" cy="6042423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b="1" dirty="0">
              <a:latin typeface="Arial"/>
              <a:ea typeface="Arial"/>
              <a:cs typeface="Arial"/>
              <a:sym typeface="Arial"/>
            </a:endParaRPr>
          </a:p>
          <a:p>
            <a:pPr marL="571500" lvl="0" indent="-342900">
              <a:buFont typeface="Wingdings" panose="05000000000000000000" pitchFamily="2" charset="2"/>
              <a:buChar char="Ø"/>
            </a:pPr>
            <a:r>
              <a:rPr lang="en-IN" dirty="0"/>
              <a:t>Develop a </a:t>
            </a:r>
            <a:r>
              <a:rPr lang="en-IN" b="1" dirty="0"/>
              <a:t>simple chatbot using Python</a:t>
            </a:r>
            <a:r>
              <a:rPr lang="en-IN" dirty="0"/>
              <a:t> that can interact with users through text input. </a:t>
            </a:r>
          </a:p>
          <a:p>
            <a:pPr marL="571500" lvl="0" indent="-342900">
              <a:buFont typeface="Wingdings" panose="05000000000000000000" pitchFamily="2" charset="2"/>
              <a:buChar char="Ø"/>
            </a:pPr>
            <a:r>
              <a:rPr lang="en-IN" dirty="0"/>
              <a:t>The chatbot should recognize and respond to </a:t>
            </a:r>
            <a:r>
              <a:rPr lang="en-IN" b="1" dirty="0"/>
              <a:t>predefined greetings</a:t>
            </a:r>
            <a:r>
              <a:rPr lang="en-IN" dirty="0"/>
              <a:t> such as “Hello,” “Hi,” and “Good morning.” </a:t>
            </a:r>
          </a:p>
          <a:p>
            <a:pPr marL="571500" lvl="0" indent="-342900">
              <a:buFont typeface="Wingdings" panose="05000000000000000000" pitchFamily="2" charset="2"/>
              <a:buChar char="Ø"/>
            </a:pPr>
            <a:r>
              <a:rPr lang="en-IN" dirty="0"/>
              <a:t>The chatbot should answer a set of </a:t>
            </a:r>
            <a:r>
              <a:rPr lang="en-IN" b="1" dirty="0"/>
              <a:t>predefined questions</a:t>
            </a:r>
            <a:r>
              <a:rPr lang="en-IN" dirty="0"/>
              <a:t> such as “What is your name?” and “How are you?” </a:t>
            </a:r>
          </a:p>
          <a:p>
            <a:pPr marL="571500" lvl="0" indent="-342900">
              <a:buFont typeface="Wingdings" panose="05000000000000000000" pitchFamily="2" charset="2"/>
              <a:buChar char="Ø"/>
            </a:pPr>
            <a:r>
              <a:rPr lang="en-IN" dirty="0"/>
              <a:t>The system should continuously accept </a:t>
            </a:r>
            <a:r>
              <a:rPr lang="en-IN" b="1" dirty="0"/>
              <a:t>user input</a:t>
            </a:r>
            <a:r>
              <a:rPr lang="en-IN" dirty="0"/>
              <a:t> until the user decides to end the conversation. </a:t>
            </a:r>
          </a:p>
          <a:p>
            <a:pPr marL="571500" lvl="0" indent="-342900">
              <a:buFont typeface="Wingdings" panose="05000000000000000000" pitchFamily="2" charset="2"/>
              <a:buChar char="Ø"/>
            </a:pPr>
            <a:r>
              <a:rPr lang="en-IN" dirty="0"/>
              <a:t>The chatbot should provide a suitable </a:t>
            </a:r>
            <a:r>
              <a:rPr lang="en-IN" b="1" dirty="0"/>
              <a:t>default response</a:t>
            </a:r>
            <a:r>
              <a:rPr lang="en-IN" dirty="0"/>
              <a:t> when it does not understand the user's input. </a:t>
            </a:r>
          </a:p>
          <a:p>
            <a:pPr marL="571500" lvl="0" indent="-342900">
              <a:buFont typeface="Wingdings" panose="05000000000000000000" pitchFamily="2" charset="2"/>
              <a:buChar char="Ø"/>
            </a:pPr>
            <a:r>
              <a:rPr lang="en-IN" dirty="0"/>
              <a:t>The program should use Python </a:t>
            </a:r>
            <a:r>
              <a:rPr lang="en-IN" b="1" dirty="0"/>
              <a:t>conditional statements</a:t>
            </a:r>
            <a:r>
              <a:rPr lang="en-IN" dirty="0"/>
              <a:t> to identify different types of user inputs. </a:t>
            </a:r>
          </a:p>
          <a:p>
            <a:pPr marL="571500" lvl="0" indent="-342900">
              <a:buFont typeface="Wingdings" panose="05000000000000000000" pitchFamily="2" charset="2"/>
              <a:buChar char="Ø"/>
            </a:pPr>
            <a:r>
              <a:rPr lang="en-IN" dirty="0"/>
              <a:t>The chatbot should use a </a:t>
            </a:r>
            <a:r>
              <a:rPr lang="en-IN" b="1" dirty="0"/>
              <a:t>looping mechanism</a:t>
            </a:r>
            <a:r>
              <a:rPr lang="en-IN" dirty="0"/>
              <a:t> to maintain continuous interaction with the user. </a:t>
            </a:r>
          </a:p>
          <a:p>
            <a:pPr marL="571500" lvl="0" indent="-342900">
              <a:buFont typeface="Wingdings" panose="05000000000000000000" pitchFamily="2" charset="2"/>
              <a:buChar char="Ø"/>
            </a:pPr>
            <a:r>
              <a:rPr lang="en-IN" dirty="0"/>
              <a:t>The program should provide specific </a:t>
            </a:r>
            <a:r>
              <a:rPr lang="en-IN" b="1" dirty="0"/>
              <a:t>exit commands</a:t>
            </a:r>
            <a:r>
              <a:rPr lang="en-IN" dirty="0"/>
              <a:t>, such as bye, exit, or quit, to terminate the conversation. </a:t>
            </a:r>
          </a:p>
          <a:p>
            <a:pPr marL="571500" lvl="0" indent="-342900">
              <a:buFont typeface="Wingdings" panose="05000000000000000000" pitchFamily="2" charset="2"/>
              <a:buChar char="Ø"/>
            </a:pPr>
            <a:r>
              <a:rPr lang="en-IN" dirty="0"/>
              <a:t>The chatbot should demonstrate basic </a:t>
            </a:r>
            <a:r>
              <a:rPr lang="en-IN" b="1" dirty="0"/>
              <a:t>Python programming logic</a:t>
            </a:r>
            <a:r>
              <a:rPr lang="en-IN" dirty="0"/>
              <a:t>, including variables, strings, conditions, loops, functions, and input/output operations.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f732d02244_0_1"/>
          <p:cNvSpPr txBox="1">
            <a:spLocks noGrp="1"/>
          </p:cNvSpPr>
          <p:nvPr>
            <p:ph type="title"/>
          </p:nvPr>
        </p:nvSpPr>
        <p:spPr>
          <a:xfrm>
            <a:off x="670559" y="346709"/>
            <a:ext cx="7803000" cy="3849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/>
              <a:t>2. Objective</a:t>
            </a:r>
            <a:endParaRPr sz="2500" b="1"/>
          </a:p>
        </p:txBody>
      </p:sp>
      <p:sp>
        <p:nvSpPr>
          <p:cNvPr id="79" name="Google Shape;79;g3f732d02244_0_1"/>
          <p:cNvSpPr txBox="1">
            <a:spLocks noGrp="1"/>
          </p:cNvSpPr>
          <p:nvPr>
            <p:ph type="body" idx="1"/>
          </p:nvPr>
        </p:nvSpPr>
        <p:spPr>
          <a:xfrm>
            <a:off x="670550" y="1074850"/>
            <a:ext cx="7471500" cy="3200876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514350" lvl="0" indent="-285750">
              <a:buFont typeface="Wingdings" panose="05000000000000000000" pitchFamily="2" charset="2"/>
              <a:buChar char="Ø"/>
            </a:pPr>
            <a:r>
              <a:rPr lang="en-IN" dirty="0"/>
              <a:t>To understand the basic concepts of Python programming. </a:t>
            </a:r>
          </a:p>
          <a:p>
            <a:pPr marL="514350" lvl="0" indent="-285750">
              <a:buFont typeface="Wingdings" panose="05000000000000000000" pitchFamily="2" charset="2"/>
              <a:buChar char="Ø"/>
            </a:pPr>
            <a:r>
              <a:rPr lang="en-IN" dirty="0"/>
              <a:t>To create an interactive chatbot using Python. </a:t>
            </a:r>
          </a:p>
          <a:p>
            <a:pPr marL="514350" lvl="0" indent="-285750">
              <a:buFont typeface="Wingdings" panose="05000000000000000000" pitchFamily="2" charset="2"/>
              <a:buChar char="Ø"/>
            </a:pPr>
            <a:r>
              <a:rPr lang="en-IN" dirty="0"/>
              <a:t>To use input() and print() for user interaction. </a:t>
            </a:r>
          </a:p>
          <a:p>
            <a:pPr marL="514350" lvl="0" indent="-285750">
              <a:buFont typeface="Wingdings" panose="05000000000000000000" pitchFamily="2" charset="2"/>
              <a:buChar char="Ø"/>
            </a:pPr>
            <a:r>
              <a:rPr lang="en-IN" dirty="0"/>
              <a:t>To apply conditional statements such as if, </a:t>
            </a:r>
            <a:r>
              <a:rPr lang="en-IN" dirty="0" err="1"/>
              <a:t>elif</a:t>
            </a:r>
            <a:r>
              <a:rPr lang="en-IN" dirty="0"/>
              <a:t>, and else. </a:t>
            </a:r>
          </a:p>
          <a:p>
            <a:pPr marL="514350" lvl="0" indent="-285750">
              <a:buFont typeface="Wingdings" panose="05000000000000000000" pitchFamily="2" charset="2"/>
              <a:buChar char="Ø"/>
            </a:pPr>
            <a:r>
              <a:rPr lang="en-IN" dirty="0"/>
              <a:t>To use loops for continuous interaction. </a:t>
            </a:r>
          </a:p>
          <a:p>
            <a:pPr marL="514350" lvl="0" indent="-285750">
              <a:buFont typeface="Wingdings" panose="05000000000000000000" pitchFamily="2" charset="2"/>
              <a:buChar char="Ø"/>
            </a:pPr>
            <a:r>
              <a:rPr lang="en-IN" dirty="0"/>
              <a:t>To handle predefined greetings and questions. </a:t>
            </a:r>
          </a:p>
          <a:p>
            <a:pPr marL="514350" lvl="0" indent="-285750">
              <a:buFont typeface="Wingdings" panose="05000000000000000000" pitchFamily="2" charset="2"/>
              <a:buChar char="Ø"/>
            </a:pPr>
            <a:r>
              <a:rPr lang="en-IN" dirty="0"/>
              <a:t>To provide an option for the user to exit the chatbot. </a:t>
            </a:r>
          </a:p>
          <a:p>
            <a:pPr marL="514350" lvl="0" indent="-285750">
              <a:buFont typeface="Wingdings" panose="05000000000000000000" pitchFamily="2" charset="2"/>
              <a:buChar char="Ø"/>
            </a:pPr>
            <a:r>
              <a:rPr lang="en-IN" dirty="0"/>
              <a:t>To understand basic Git and GitHub workflow. </a:t>
            </a:r>
          </a:p>
          <a:p>
            <a:pPr marL="514350" lvl="0" indent="-285750">
              <a:buFont typeface="Wingdings" panose="05000000000000000000" pitchFamily="2" charset="2"/>
              <a:buChar char="Ø"/>
            </a:pPr>
            <a:r>
              <a:rPr lang="en-IN" dirty="0"/>
              <a:t>To practice meaningful commits and collaboration. </a:t>
            </a:r>
          </a:p>
          <a:p>
            <a:pPr marL="514350" lvl="0" indent="-285750">
              <a:buFont typeface="Wingdings" panose="05000000000000000000" pitchFamily="2" charset="2"/>
              <a:buChar char="Ø"/>
            </a:pPr>
            <a:r>
              <a:rPr lang="en-IN" dirty="0"/>
              <a:t>To understand individual contribution in a software project.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732d02244_0_7"/>
          <p:cNvSpPr txBox="1">
            <a:spLocks noGrp="1"/>
          </p:cNvSpPr>
          <p:nvPr>
            <p:ph type="title"/>
          </p:nvPr>
        </p:nvSpPr>
        <p:spPr>
          <a:xfrm>
            <a:off x="670559" y="346709"/>
            <a:ext cx="7803000" cy="3849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/>
              <a:t>3. Algorithm</a:t>
            </a:r>
            <a:endParaRPr sz="2500" b="1"/>
          </a:p>
        </p:txBody>
      </p:sp>
      <p:sp>
        <p:nvSpPr>
          <p:cNvPr id="86" name="Google Shape;86;g3f732d02244_0_7"/>
          <p:cNvSpPr txBox="1">
            <a:spLocks noGrp="1"/>
          </p:cNvSpPr>
          <p:nvPr>
            <p:ph type="body" idx="1"/>
          </p:nvPr>
        </p:nvSpPr>
        <p:spPr>
          <a:xfrm>
            <a:off x="670550" y="1151225"/>
            <a:ext cx="7471500" cy="3754874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514350" lvl="0" indent="-285750">
              <a:buFont typeface="Wingdings" panose="05000000000000000000" pitchFamily="2" charset="2"/>
              <a:buChar char="Ø"/>
            </a:pPr>
            <a:r>
              <a:rPr lang="en-IN" dirty="0"/>
              <a:t>Start the program. </a:t>
            </a:r>
          </a:p>
          <a:p>
            <a:pPr marL="514350" lvl="0" indent="-285750">
              <a:buFont typeface="Wingdings" panose="05000000000000000000" pitchFamily="2" charset="2"/>
              <a:buChar char="Ø"/>
            </a:pPr>
            <a:r>
              <a:rPr lang="en-IN" dirty="0"/>
              <a:t>Display a welcome message. </a:t>
            </a:r>
          </a:p>
          <a:p>
            <a:pPr marL="514350" lvl="0" indent="-285750">
              <a:buFont typeface="Wingdings" panose="05000000000000000000" pitchFamily="2" charset="2"/>
              <a:buChar char="Ø"/>
            </a:pPr>
            <a:r>
              <a:rPr lang="en-IN" dirty="0"/>
              <a:t>Continuously ask the user to enter a message. </a:t>
            </a:r>
          </a:p>
          <a:p>
            <a:pPr marL="514350" lvl="0" indent="-285750">
              <a:buFont typeface="Wingdings" panose="05000000000000000000" pitchFamily="2" charset="2"/>
              <a:buChar char="Ø"/>
            </a:pPr>
            <a:r>
              <a:rPr lang="en-IN" dirty="0"/>
              <a:t>Convert the input into lowercase to make matching easier. </a:t>
            </a:r>
          </a:p>
          <a:p>
            <a:pPr marL="514350" lvl="0" indent="-285750">
              <a:buFont typeface="Wingdings" panose="05000000000000000000" pitchFamily="2" charset="2"/>
              <a:buChar char="Ø"/>
            </a:pPr>
            <a:r>
              <a:rPr lang="en-IN" dirty="0"/>
              <a:t>Check whether the user wants to exit. </a:t>
            </a:r>
          </a:p>
          <a:p>
            <a:pPr marL="514350" lvl="0" indent="-285750">
              <a:buFont typeface="Wingdings" panose="05000000000000000000" pitchFamily="2" charset="2"/>
              <a:buChar char="Ø"/>
            </a:pPr>
            <a:r>
              <a:rPr lang="en-IN" dirty="0"/>
              <a:t>If the input is a greeting, display a predefined greeting response. </a:t>
            </a:r>
          </a:p>
          <a:p>
            <a:pPr marL="514350" lvl="0" indent="-285750">
              <a:buFont typeface="Wingdings" panose="05000000000000000000" pitchFamily="2" charset="2"/>
              <a:buChar char="Ø"/>
            </a:pPr>
            <a:r>
              <a:rPr lang="en-IN" dirty="0"/>
              <a:t>If the input matches a predefined question, display the corresponding answer. </a:t>
            </a:r>
          </a:p>
          <a:p>
            <a:pPr marL="514350" lvl="0" indent="-285750">
              <a:buFont typeface="Wingdings" panose="05000000000000000000" pitchFamily="2" charset="2"/>
              <a:buChar char="Ø"/>
            </a:pPr>
            <a:r>
              <a:rPr lang="en-IN" dirty="0"/>
              <a:t>If the chatbot does not recognize the input, display a default response. </a:t>
            </a:r>
          </a:p>
          <a:p>
            <a:pPr marL="514350" lvl="0" indent="-285750">
              <a:buFont typeface="Wingdings" panose="05000000000000000000" pitchFamily="2" charset="2"/>
              <a:buChar char="Ø"/>
            </a:pPr>
            <a:r>
              <a:rPr lang="en-IN" dirty="0"/>
              <a:t>Repeat the process until the user enters an exit command. </a:t>
            </a:r>
          </a:p>
          <a:p>
            <a:pPr marL="514350" lvl="0" indent="-285750">
              <a:buFont typeface="Wingdings" panose="05000000000000000000" pitchFamily="2" charset="2"/>
              <a:buChar char="Ø"/>
            </a:pPr>
            <a:r>
              <a:rPr lang="en-IN" dirty="0"/>
              <a:t>Display a goodbye message. </a:t>
            </a:r>
          </a:p>
          <a:p>
            <a:pPr marL="514350" lvl="0" indent="-285750">
              <a:buFont typeface="Wingdings" panose="05000000000000000000" pitchFamily="2" charset="2"/>
              <a:buChar char="Ø"/>
            </a:pPr>
            <a:r>
              <a:rPr lang="en-IN" dirty="0"/>
              <a:t>Stop the program.</a:t>
            </a:r>
          </a:p>
          <a:p>
            <a:pPr lvl="0" indent="0" algn="l" rtl="0">
              <a:spcBef>
                <a:spcPts val="1200"/>
              </a:spcBef>
              <a:spcAft>
                <a:spcPts val="0"/>
              </a:spcAft>
            </a:pP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f732d02244_0_15"/>
          <p:cNvSpPr txBox="1">
            <a:spLocks noGrp="1"/>
          </p:cNvSpPr>
          <p:nvPr>
            <p:ph type="title"/>
          </p:nvPr>
        </p:nvSpPr>
        <p:spPr>
          <a:xfrm>
            <a:off x="583525" y="375683"/>
            <a:ext cx="7803000" cy="3849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/>
              <a:t>4. Flowchart</a:t>
            </a:r>
            <a:endParaRPr sz="2500" b="1"/>
          </a:p>
        </p:txBody>
      </p:sp>
      <p:sp>
        <p:nvSpPr>
          <p:cNvPr id="93" name="Google Shape;93;g3f732d02244_0_15"/>
          <p:cNvSpPr txBox="1">
            <a:spLocks noGrp="1"/>
          </p:cNvSpPr>
          <p:nvPr>
            <p:ph type="body" idx="1"/>
          </p:nvPr>
        </p:nvSpPr>
        <p:spPr>
          <a:xfrm rot="10800000" flipH="1">
            <a:off x="670550" y="1683825"/>
            <a:ext cx="7471500" cy="7143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B39705-C0E6-F054-C2D4-8BC0284DA6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7821" y="843280"/>
            <a:ext cx="5488357" cy="5313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f732d02244_0_21"/>
          <p:cNvSpPr txBox="1">
            <a:spLocks noGrp="1"/>
          </p:cNvSpPr>
          <p:nvPr>
            <p:ph type="title"/>
          </p:nvPr>
        </p:nvSpPr>
        <p:spPr>
          <a:xfrm>
            <a:off x="786500" y="382775"/>
            <a:ext cx="7803000" cy="3849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/>
              <a:t>5. Understanding of python logic</a:t>
            </a:r>
            <a:endParaRPr sz="2500" b="1"/>
          </a:p>
        </p:txBody>
      </p:sp>
      <p:sp>
        <p:nvSpPr>
          <p:cNvPr id="101" name="Google Shape;101;g3f732d02244_0_21"/>
          <p:cNvSpPr txBox="1">
            <a:spLocks noGrp="1"/>
          </p:cNvSpPr>
          <p:nvPr>
            <p:ph type="body" idx="1"/>
          </p:nvPr>
        </p:nvSpPr>
        <p:spPr>
          <a:xfrm>
            <a:off x="670550" y="886350"/>
            <a:ext cx="7471500" cy="15000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 b="1">
              <a:latin typeface="Arial"/>
              <a:ea typeface="Arial"/>
              <a:cs typeface="Arial"/>
              <a:sym typeface="Arial"/>
            </a:endParaRPr>
          </a:p>
          <a:p>
            <a:pPr marL="45720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E9D30F-4CB6-1E00-B95F-2BE4DCC2D2FD}"/>
              </a:ext>
            </a:extLst>
          </p:cNvPr>
          <p:cNvSpPr txBox="1"/>
          <p:nvPr/>
        </p:nvSpPr>
        <p:spPr>
          <a:xfrm>
            <a:off x="776340" y="1087120"/>
            <a:ext cx="680302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The chatbot demonstrates several fundamental Python concepts: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Variables</a:t>
            </a:r>
            <a:r>
              <a:rPr lang="en-IN" b="1" dirty="0"/>
              <a:t>:</a:t>
            </a:r>
            <a:r>
              <a:rPr lang="en-IN" dirty="0"/>
              <a:t> Store user input and chatbot responses.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input(): Accepts text from the user.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print(): Displays messages on the screen.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while loop: Keeps the chatbot running continuously.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if, </a:t>
            </a:r>
            <a:r>
              <a:rPr lang="en-IN" dirty="0" err="1"/>
              <a:t>elif</a:t>
            </a:r>
            <a:r>
              <a:rPr lang="en-IN" dirty="0"/>
              <a:t>, else: Makes decisions based on the user's input.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String methods: lower() converts input to lowercase so that Hello, HELLO, and hello can be treated similarly.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Lists: Can store multiple greetings or exit commands.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Functions: Can be used to organize chatbot logic into reusable sections.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>
              <a:latin typeface="+mn-l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f732d02244_0_43"/>
          <p:cNvSpPr txBox="1">
            <a:spLocks noGrp="1"/>
          </p:cNvSpPr>
          <p:nvPr>
            <p:ph type="title"/>
          </p:nvPr>
        </p:nvSpPr>
        <p:spPr>
          <a:xfrm>
            <a:off x="588775" y="317729"/>
            <a:ext cx="7803000" cy="827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 b="1">
                <a:latin typeface="Calibri"/>
                <a:ea typeface="Calibri"/>
                <a:cs typeface="Calibri"/>
                <a:sym typeface="Calibri"/>
              </a:rPr>
              <a:t>7. GitHub Account, Repository &amp; Collaboration</a:t>
            </a:r>
            <a:endParaRPr sz="2500" b="1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00" b="1"/>
          </a:p>
        </p:txBody>
      </p:sp>
      <p:sp>
        <p:nvSpPr>
          <p:cNvPr id="117" name="Google Shape;117;g3f732d02244_0_43"/>
          <p:cNvSpPr txBox="1">
            <a:spLocks noGrp="1"/>
          </p:cNvSpPr>
          <p:nvPr>
            <p:ph type="body" idx="1"/>
          </p:nvPr>
        </p:nvSpPr>
        <p:spPr>
          <a:xfrm>
            <a:off x="588775" y="1074825"/>
            <a:ext cx="7471500" cy="14469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1300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 b="1">
              <a:latin typeface="Arial"/>
              <a:ea typeface="Arial"/>
              <a:cs typeface="Arial"/>
              <a:sym typeface="Arial"/>
            </a:endParaRPr>
          </a:p>
          <a:p>
            <a:pPr marL="45720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g3f732d02244_0_43"/>
          <p:cNvSpPr txBox="1"/>
          <p:nvPr/>
        </p:nvSpPr>
        <p:spPr>
          <a:xfrm>
            <a:off x="670500" y="731429"/>
            <a:ext cx="7803000" cy="621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27000" lvl="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600"/>
            </a:pPr>
            <a:r>
              <a:rPr lang="en-IN" sz="1600" dirty="0">
                <a:solidFill>
                  <a:srgbClr val="FF0000"/>
                </a:solidFill>
              </a:rPr>
              <a:t>https://github.com/nayan182007/python-TAE</a:t>
            </a:r>
            <a:endParaRPr sz="1600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F61B30-4447-DA23-6916-92FE0D8CAA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950" y="1353107"/>
            <a:ext cx="8060275" cy="480757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98E14E3-91B6-C956-692E-8A27A3C04EB9}"/>
              </a:ext>
            </a:extLst>
          </p:cNvPr>
          <p:cNvSpPr txBox="1"/>
          <p:nvPr/>
        </p:nvSpPr>
        <p:spPr>
          <a:xfrm>
            <a:off x="393290" y="452284"/>
            <a:ext cx="3794629" cy="56938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print("Welcome to Python Chatbot!")</a:t>
            </a:r>
          </a:p>
          <a:p>
            <a:endParaRPr lang="en-US" dirty="0"/>
          </a:p>
          <a:p>
            <a:r>
              <a:rPr lang="en-US" dirty="0"/>
              <a:t>while True:</a:t>
            </a:r>
          </a:p>
          <a:p>
            <a:r>
              <a:rPr lang="en-US" dirty="0"/>
              <a:t>    user = input("You: ").lower()</a:t>
            </a:r>
          </a:p>
          <a:p>
            <a:endParaRPr lang="en-US" dirty="0"/>
          </a:p>
          <a:p>
            <a:r>
              <a:rPr lang="en-US" dirty="0"/>
              <a:t>    if user in ["bye", "exit", "quit"]:</a:t>
            </a:r>
          </a:p>
          <a:p>
            <a:r>
              <a:rPr lang="en-US" dirty="0"/>
              <a:t>        print("Bot: Goodbye! Have a nice day!")</a:t>
            </a:r>
          </a:p>
          <a:p>
            <a:r>
              <a:rPr lang="en-US" dirty="0"/>
              <a:t>        break</a:t>
            </a:r>
          </a:p>
          <a:p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elif</a:t>
            </a:r>
            <a:r>
              <a:rPr lang="en-US" dirty="0"/>
              <a:t> user in ["hello", "hi", "hey"]:</a:t>
            </a:r>
          </a:p>
          <a:p>
            <a:r>
              <a:rPr lang="en-US" dirty="0"/>
              <a:t>        print("Bot: Hello! How can I help you?")</a:t>
            </a:r>
          </a:p>
          <a:p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elif</a:t>
            </a:r>
            <a:r>
              <a:rPr lang="en-US" dirty="0"/>
              <a:t> user == "good morning":</a:t>
            </a:r>
          </a:p>
          <a:p>
            <a:r>
              <a:rPr lang="en-US" dirty="0"/>
              <a:t>        print("Bot: Good morning!")</a:t>
            </a:r>
          </a:p>
          <a:p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elif</a:t>
            </a:r>
            <a:r>
              <a:rPr lang="en-US" dirty="0"/>
              <a:t> user == "what is your name?":</a:t>
            </a:r>
          </a:p>
          <a:p>
            <a:r>
              <a:rPr lang="en-US" dirty="0"/>
              <a:t>        print("Bot: My name is Python Chatbot.")</a:t>
            </a:r>
          </a:p>
          <a:p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elif</a:t>
            </a:r>
            <a:r>
              <a:rPr lang="en-US" dirty="0"/>
              <a:t> user == "how are you?":</a:t>
            </a:r>
          </a:p>
          <a:p>
            <a:r>
              <a:rPr lang="en-US" dirty="0"/>
              <a:t>        print("Bot: I am fine. Thank you!")</a:t>
            </a:r>
          </a:p>
          <a:p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elif</a:t>
            </a:r>
            <a:r>
              <a:rPr lang="en-US" dirty="0"/>
              <a:t> user == "who created you?":</a:t>
            </a:r>
          </a:p>
          <a:p>
            <a:r>
              <a:rPr lang="en-US" dirty="0"/>
              <a:t>        print("Bot: I was created using Python.")</a:t>
            </a:r>
          </a:p>
          <a:p>
            <a:endParaRPr lang="en-US" dirty="0"/>
          </a:p>
          <a:p>
            <a:r>
              <a:rPr lang="en-US" dirty="0"/>
              <a:t>    else:</a:t>
            </a:r>
          </a:p>
          <a:p>
            <a:r>
              <a:rPr lang="en-US" dirty="0"/>
              <a:t>        print("Bot: Sorry, I don't understand.")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37469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89B8ADF-EE46-1265-8876-4F2A15194F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563" y="314824"/>
            <a:ext cx="5466736" cy="286277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16B7239-0C88-32FE-124A-30AE7E2BDC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563" y="3429000"/>
            <a:ext cx="5466736" cy="2798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9301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f732d02244_0_71"/>
          <p:cNvSpPr txBox="1">
            <a:spLocks noGrp="1"/>
          </p:cNvSpPr>
          <p:nvPr>
            <p:ph type="body" idx="1"/>
          </p:nvPr>
        </p:nvSpPr>
        <p:spPr>
          <a:xfrm>
            <a:off x="670550" y="915847"/>
            <a:ext cx="7471500" cy="14469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1300" b="1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 b="1" dirty="0">
              <a:latin typeface="Arial"/>
              <a:ea typeface="Arial"/>
              <a:cs typeface="Arial"/>
              <a:sym typeface="Arial"/>
            </a:endParaRPr>
          </a:p>
          <a:p>
            <a:pPr marL="45720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6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3" name="Google Shape;143;g3f732d02244_0_71"/>
          <p:cNvSpPr txBox="1"/>
          <p:nvPr/>
        </p:nvSpPr>
        <p:spPr>
          <a:xfrm flipH="1">
            <a:off x="670550" y="1995986"/>
            <a:ext cx="3000000" cy="1954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 dirty="0">
                <a:solidFill>
                  <a:srgbClr val="0000FF"/>
                </a:solidFill>
                <a:latin typeface="BankGothic Md BT" panose="020B0807020203060204" pitchFamily="34" charset="0"/>
                <a:ea typeface="Calibri"/>
                <a:cs typeface="Calibri"/>
                <a:sym typeface="Calibri"/>
              </a:rPr>
              <a:t>Thank You</a:t>
            </a:r>
            <a:endParaRPr sz="5000" b="1" dirty="0">
              <a:solidFill>
                <a:srgbClr val="0000FF"/>
              </a:solidFill>
              <a:latin typeface="BankGothic Md BT" panose="020B0807020203060204" pitchFamily="34" charset="0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769</Words>
  <Application>Microsoft Office PowerPoint</Application>
  <PresentationFormat>On-screen Show (4:3)</PresentationFormat>
  <Paragraphs>105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BankGothic Md BT</vt:lpstr>
      <vt:lpstr>Calibri</vt:lpstr>
      <vt:lpstr>Times New Roman</vt:lpstr>
      <vt:lpstr>Wingdings</vt:lpstr>
      <vt:lpstr>Office Theme</vt:lpstr>
      <vt:lpstr>Experiential Learning Project Assessment-I on ” under the course Python Programming Language (N-PCCCM304P) </vt:lpstr>
      <vt:lpstr>Contents</vt:lpstr>
      <vt:lpstr>1. Problem Statement</vt:lpstr>
      <vt:lpstr>2. Objective</vt:lpstr>
      <vt:lpstr>3. Algorithm</vt:lpstr>
      <vt:lpstr>4. Flowchart</vt:lpstr>
      <vt:lpstr>5. Understanding of python logic</vt:lpstr>
      <vt:lpstr>7. GitHub Account, Repository &amp; Collaboration 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MRS. MAYURI GETME</dc:creator>
  <cp:lastModifiedBy>Rishi saroj</cp:lastModifiedBy>
  <cp:revision>3</cp:revision>
  <dcterms:created xsi:type="dcterms:W3CDTF">2021-03-08T15:20:31Z</dcterms:created>
  <dcterms:modified xsi:type="dcterms:W3CDTF">2026-10-09T09:37:05Z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2017-11-07T00:00:00Z</vt:filetime>
  </property>
  <property fmtid="{D5CDD505-2E9C-101B-9397-08002B2CF9AE}" pid="3" name="Creator">
    <vt:lpwstr>Impress</vt:lpwstr>
  </property>
  <property fmtid="{D5CDD505-2E9C-101B-9397-08002B2CF9AE}" pid="4" name="LastSaved">
    <vt:filetime>2021-03-08T00:00:00Z</vt:filetime>
  </property>
</Properties>
</file>